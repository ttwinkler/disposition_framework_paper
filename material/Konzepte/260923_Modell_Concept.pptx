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7" r:id="rId1"/>
  </p:sldMasterIdLst>
  <p:notesMasterIdLst>
    <p:notesMasterId r:id="rId3"/>
  </p:notesMasterIdLst>
  <p:handoutMasterIdLst>
    <p:handoutMasterId r:id="rId4"/>
  </p:handoutMasterIdLst>
  <p:sldIdLst>
    <p:sldId id="684" r:id="rId2"/>
  </p:sldIdLst>
  <p:sldSz cx="12192000" cy="6858000"/>
  <p:notesSz cx="9925050" cy="6665913"/>
  <p:custDataLst>
    <p:tags r:id="rId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Ergebnisse" id="{422A9F51-F4AA-4CB0-94B9-0F938FD3F595}">
          <p14:sldIdLst>
            <p14:sldId id="6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266"/>
    <a:srgbClr val="C5D2DB"/>
    <a:srgbClr val="D3DDE4"/>
    <a:srgbClr val="F3F6F8"/>
    <a:srgbClr val="F4C7A7"/>
    <a:srgbClr val="FFFFFF"/>
    <a:srgbClr val="172430"/>
    <a:srgbClr val="00B050"/>
    <a:srgbClr val="D9D9D9"/>
    <a:srgbClr val="F4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97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08/10/2026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08/10/2026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11450254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042620" y="4414573"/>
            <a:ext cx="1425794" cy="3682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MM/YYYY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19088" y="3446016"/>
            <a:ext cx="4252747" cy="3682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6" hasCustomPrompt="1"/>
          </p:nvPr>
        </p:nvSpPr>
        <p:spPr>
          <a:xfrm>
            <a:off x="2042620" y="3925787"/>
            <a:ext cx="2529215" cy="36824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00. Januar 2016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311162" y="3931554"/>
            <a:ext cx="1786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/>
              <a:t>Datum:</a:t>
            </a:r>
          </a:p>
          <a:p>
            <a:endParaRPr lang="de-DE" sz="1600" dirty="0"/>
          </a:p>
          <a:p>
            <a:r>
              <a:rPr lang="de-DE" sz="1600" dirty="0"/>
              <a:t>Dabei seit: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7"/>
          </p:nvPr>
        </p:nvSpPr>
        <p:spPr>
          <a:xfrm>
            <a:off x="6093725" y="1982309"/>
            <a:ext cx="5675619" cy="4255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425453" y="314326"/>
            <a:ext cx="102662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ts val="800"/>
              </a:lnSpc>
            </a:pPr>
            <a:r>
              <a:rPr lang="de-DE" sz="800" dirty="0">
                <a:solidFill>
                  <a:srgbClr val="0065BD"/>
                </a:solidFill>
                <a:latin typeface="Arial" panose="020B0604020202020204"/>
                <a:cs typeface="+mn-cs"/>
              </a:rPr>
              <a:t>Lehrstuhl für Fahrzeugtechnik</a:t>
            </a:r>
          </a:p>
          <a:p>
            <a:pPr eaLnBrk="0" hangingPunct="0">
              <a:lnSpc>
                <a:spcPts val="800"/>
              </a:lnSpc>
            </a:pPr>
            <a:r>
              <a:rPr lang="en-US" sz="800" dirty="0">
                <a:solidFill>
                  <a:srgbClr val="0065BD"/>
                </a:solidFill>
                <a:latin typeface="Arial" panose="020B0604020202020204"/>
                <a:cs typeface="+mn-cs"/>
              </a:rPr>
              <a:t>TUM School of Engineering and Design</a:t>
            </a:r>
          </a:p>
          <a:p>
            <a:pPr eaLnBrk="0" hangingPunct="0">
              <a:lnSpc>
                <a:spcPts val="800"/>
              </a:lnSpc>
            </a:pPr>
            <a:r>
              <a:rPr lang="de-DE" sz="800" dirty="0">
                <a:solidFill>
                  <a:srgbClr val="0065BD"/>
                </a:solidFill>
                <a:latin typeface="Arial" panose="020B0604020202020204"/>
                <a:cs typeface="+mn-cs"/>
              </a:rPr>
              <a:t>Technische Universität München</a:t>
            </a:r>
          </a:p>
        </p:txBody>
      </p:sp>
      <p:pic>
        <p:nvPicPr>
          <p:cNvPr id="2" name="Bild 2" descr="20150416 tum logo blau png final.png">
            <a:extLst>
              <a:ext uri="{FF2B5EF4-FFF2-40B4-BE49-F238E27FC236}">
                <a16:creationId xmlns:a16="http://schemas.microsoft.com/office/drawing/2014/main" id="{67AB0E35-B139-BA78-11FF-D8C5636D5B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665" y="324685"/>
            <a:ext cx="608352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09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C014D4C-AE21-5320-79C1-A28B8F4D6EAC}"/>
              </a:ext>
            </a:extLst>
          </p:cNvPr>
          <p:cNvSpPr/>
          <p:nvPr userDrawn="1"/>
        </p:nvSpPr>
        <p:spPr bwMode="auto">
          <a:xfrm>
            <a:off x="425454" y="442806"/>
            <a:ext cx="9593549" cy="173008"/>
          </a:xfrm>
          <a:prstGeom prst="rect">
            <a:avLst/>
          </a:prstGeom>
          <a:solidFill>
            <a:srgbClr val="FFFFFF"/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050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3567862-B37A-335D-43A9-C64190E776E8}"/>
              </a:ext>
            </a:extLst>
          </p:cNvPr>
          <p:cNvSpPr/>
          <p:nvPr userDrawn="1"/>
        </p:nvSpPr>
        <p:spPr bwMode="auto">
          <a:xfrm>
            <a:off x="425454" y="442806"/>
            <a:ext cx="9593549" cy="173008"/>
          </a:xfrm>
          <a:prstGeom prst="rect">
            <a:avLst/>
          </a:prstGeom>
          <a:solidFill>
            <a:srgbClr val="FFFFFF"/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77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564C4B-03EC-C1D9-E9B1-EDBE14452FD0}"/>
              </a:ext>
            </a:extLst>
          </p:cNvPr>
          <p:cNvSpPr/>
          <p:nvPr userDrawn="1"/>
        </p:nvSpPr>
        <p:spPr bwMode="auto">
          <a:xfrm>
            <a:off x="425454" y="442806"/>
            <a:ext cx="9593549" cy="173008"/>
          </a:xfrm>
          <a:prstGeom prst="rect">
            <a:avLst/>
          </a:prstGeom>
          <a:solidFill>
            <a:srgbClr val="FFFFFF"/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24C768C-7B66-8297-10A3-01AEA155BDFB}"/>
              </a:ext>
            </a:extLst>
          </p:cNvPr>
          <p:cNvSpPr/>
          <p:nvPr userDrawn="1"/>
        </p:nvSpPr>
        <p:spPr bwMode="auto">
          <a:xfrm>
            <a:off x="425454" y="442806"/>
            <a:ext cx="9593549" cy="173008"/>
          </a:xfrm>
          <a:prstGeom prst="rect">
            <a:avLst/>
          </a:prstGeom>
          <a:solidFill>
            <a:srgbClr val="FFFFFF"/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92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hidden">
          <a:xfrm>
            <a:off x="0" y="0"/>
            <a:ext cx="12192000" cy="64872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9" name="Bild 3" descr="20150416 tum logo blau png fina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1163409" y="324650"/>
            <a:ext cx="599723" cy="32040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2390480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Einleitung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cxnSp>
        <p:nvCxnSpPr>
          <p:cNvPr id="4" name="Gerade Verbindung 13">
            <a:extLst>
              <a:ext uri="{FF2B5EF4-FFF2-40B4-BE49-F238E27FC236}">
                <a16:creationId xmlns:a16="http://schemas.microsoft.com/office/drawing/2014/main" id="{49E52A56-2EA1-D088-3797-0A7073530DC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5454" y="628350"/>
            <a:ext cx="678635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F66F4431-DDDF-9EC0-F58F-E361213B4CF5}"/>
              </a:ext>
            </a:extLst>
          </p:cNvPr>
          <p:cNvSpPr/>
          <p:nvPr userDrawn="1"/>
        </p:nvSpPr>
        <p:spPr bwMode="auto">
          <a:xfrm>
            <a:off x="1323833" y="442805"/>
            <a:ext cx="9593549" cy="22679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558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Einleitung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BA7EEF-3D3A-B7AB-5D46-2643B9E8D805}"/>
              </a:ext>
            </a:extLst>
          </p:cNvPr>
          <p:cNvSpPr/>
          <p:nvPr userDrawn="1"/>
        </p:nvSpPr>
        <p:spPr bwMode="auto">
          <a:xfrm>
            <a:off x="1323833" y="442806"/>
            <a:ext cx="9593549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13">
            <a:extLst>
              <a:ext uri="{FF2B5EF4-FFF2-40B4-BE49-F238E27FC236}">
                <a16:creationId xmlns:a16="http://schemas.microsoft.com/office/drawing/2014/main" id="{2B90FE2A-18B2-53FA-09B0-F7723BD6AAF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5454" y="628350"/>
            <a:ext cx="678635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33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Einleitung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8B615D5-B8D3-031C-7F80-03F51762B5A9}"/>
              </a:ext>
            </a:extLst>
          </p:cNvPr>
          <p:cNvSpPr/>
          <p:nvPr userDrawn="1"/>
        </p:nvSpPr>
        <p:spPr bwMode="auto">
          <a:xfrm>
            <a:off x="1323833" y="442806"/>
            <a:ext cx="9593549" cy="226664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13">
            <a:extLst>
              <a:ext uri="{FF2B5EF4-FFF2-40B4-BE49-F238E27FC236}">
                <a16:creationId xmlns:a16="http://schemas.microsoft.com/office/drawing/2014/main" id="{F0745911-E8E5-AF84-A5DD-EE4FC4E9D57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5454" y="628350"/>
            <a:ext cx="678635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15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Einleitung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8412363-0714-DB02-40AC-7DBB64FD9911}"/>
              </a:ext>
            </a:extLst>
          </p:cNvPr>
          <p:cNvSpPr/>
          <p:nvPr userDrawn="1"/>
        </p:nvSpPr>
        <p:spPr bwMode="auto">
          <a:xfrm>
            <a:off x="1323833" y="442806"/>
            <a:ext cx="9593549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13">
            <a:extLst>
              <a:ext uri="{FF2B5EF4-FFF2-40B4-BE49-F238E27FC236}">
                <a16:creationId xmlns:a16="http://schemas.microsoft.com/office/drawing/2014/main" id="{035F23C7-00D2-A773-E43F-4C5BEA5154D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25454" y="628350"/>
            <a:ext cx="678635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87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dW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cxnSp>
        <p:nvCxnSpPr>
          <p:cNvPr id="4" name="Gerade Verbindung 13">
            <a:extLst>
              <a:ext uri="{FF2B5EF4-FFF2-40B4-BE49-F238E27FC236}">
                <a16:creationId xmlns:a16="http://schemas.microsoft.com/office/drawing/2014/main" id="{E574A9E3-A2A1-A76D-E11B-C7DF084C5914}"/>
              </a:ext>
            </a:extLst>
          </p:cNvPr>
          <p:cNvCxnSpPr/>
          <p:nvPr userDrawn="1"/>
        </p:nvCxnSpPr>
        <p:spPr bwMode="auto">
          <a:xfrm>
            <a:off x="1581833" y="628350"/>
            <a:ext cx="165137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B73C500E-957B-284A-0973-197F0455D32A}"/>
              </a:ext>
            </a:extLst>
          </p:cNvPr>
          <p:cNvSpPr/>
          <p:nvPr userDrawn="1"/>
        </p:nvSpPr>
        <p:spPr bwMode="auto">
          <a:xfrm>
            <a:off x="3459707" y="428763"/>
            <a:ext cx="7434265" cy="240835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24843D2-8395-D3DB-6F4F-F7F22337867B}"/>
              </a:ext>
            </a:extLst>
          </p:cNvPr>
          <p:cNvSpPr/>
          <p:nvPr userDrawn="1"/>
        </p:nvSpPr>
        <p:spPr bwMode="auto">
          <a:xfrm>
            <a:off x="425454" y="428764"/>
            <a:ext cx="911252" cy="19958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781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dW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105EB61-9410-506A-267D-7AD5D534EE30}"/>
              </a:ext>
            </a:extLst>
          </p:cNvPr>
          <p:cNvSpPr/>
          <p:nvPr userDrawn="1"/>
        </p:nvSpPr>
        <p:spPr bwMode="auto">
          <a:xfrm>
            <a:off x="3459707" y="428764"/>
            <a:ext cx="74342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3F9DFE4D-9809-6C71-4B54-1517D4BB64B0}"/>
              </a:ext>
            </a:extLst>
          </p:cNvPr>
          <p:cNvCxnSpPr/>
          <p:nvPr userDrawn="1"/>
        </p:nvCxnSpPr>
        <p:spPr bwMode="auto">
          <a:xfrm>
            <a:off x="1581833" y="628350"/>
            <a:ext cx="165137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44C49265-CA6F-7474-FD88-79DDAD98491F}"/>
              </a:ext>
            </a:extLst>
          </p:cNvPr>
          <p:cNvSpPr/>
          <p:nvPr userDrawn="1"/>
        </p:nvSpPr>
        <p:spPr bwMode="auto">
          <a:xfrm>
            <a:off x="425454" y="428764"/>
            <a:ext cx="911252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5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dW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E4F4F9-0685-8C9C-92AB-8331B71A1D1F}"/>
              </a:ext>
            </a:extLst>
          </p:cNvPr>
          <p:cNvSpPr/>
          <p:nvPr userDrawn="1"/>
        </p:nvSpPr>
        <p:spPr bwMode="auto">
          <a:xfrm>
            <a:off x="3459707" y="428764"/>
            <a:ext cx="74342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FAD602DA-4E58-53AC-9913-12BBA6FE195C}"/>
              </a:ext>
            </a:extLst>
          </p:cNvPr>
          <p:cNvCxnSpPr/>
          <p:nvPr userDrawn="1"/>
        </p:nvCxnSpPr>
        <p:spPr bwMode="auto">
          <a:xfrm>
            <a:off x="1581833" y="628350"/>
            <a:ext cx="165137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DE50C7D-9E42-AB8D-D34D-147140944308}"/>
              </a:ext>
            </a:extLst>
          </p:cNvPr>
          <p:cNvSpPr/>
          <p:nvPr userDrawn="1"/>
        </p:nvSpPr>
        <p:spPr bwMode="auto">
          <a:xfrm>
            <a:off x="425454" y="428764"/>
            <a:ext cx="911252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825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dW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A73D297-2F14-8D8F-B0E6-6986BF0ED490}"/>
              </a:ext>
            </a:extLst>
          </p:cNvPr>
          <p:cNvSpPr/>
          <p:nvPr userDrawn="1"/>
        </p:nvSpPr>
        <p:spPr bwMode="auto">
          <a:xfrm>
            <a:off x="3459707" y="428764"/>
            <a:ext cx="74342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72466E85-54A3-4771-4655-845013BF0370}"/>
              </a:ext>
            </a:extLst>
          </p:cNvPr>
          <p:cNvCxnSpPr/>
          <p:nvPr userDrawn="1"/>
        </p:nvCxnSpPr>
        <p:spPr bwMode="auto">
          <a:xfrm>
            <a:off x="1581833" y="628350"/>
            <a:ext cx="165137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26748042-44FF-B90D-C45D-7F404EC638B0}"/>
              </a:ext>
            </a:extLst>
          </p:cNvPr>
          <p:cNvSpPr/>
          <p:nvPr userDrawn="1"/>
        </p:nvSpPr>
        <p:spPr bwMode="auto">
          <a:xfrm>
            <a:off x="425454" y="428764"/>
            <a:ext cx="911252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7774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rgehe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F116F55-F9F6-5779-6B15-1A0C16FFE000}"/>
              </a:ext>
            </a:extLst>
          </p:cNvPr>
          <p:cNvSpPr/>
          <p:nvPr userDrawn="1"/>
        </p:nvSpPr>
        <p:spPr bwMode="auto">
          <a:xfrm>
            <a:off x="4863155" y="428764"/>
            <a:ext cx="4087504" cy="19958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C16686-A828-81CC-9FC6-4DD1340525F3}"/>
              </a:ext>
            </a:extLst>
          </p:cNvPr>
          <p:cNvSpPr/>
          <p:nvPr userDrawn="1"/>
        </p:nvSpPr>
        <p:spPr bwMode="auto">
          <a:xfrm>
            <a:off x="132802" y="428764"/>
            <a:ext cx="3108541" cy="19958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13">
            <a:extLst>
              <a:ext uri="{FF2B5EF4-FFF2-40B4-BE49-F238E27FC236}">
                <a16:creationId xmlns:a16="http://schemas.microsoft.com/office/drawing/2014/main" id="{B93AD9EE-B3DC-90FF-C080-9FE24D700D86}"/>
              </a:ext>
            </a:extLst>
          </p:cNvPr>
          <p:cNvCxnSpPr/>
          <p:nvPr userDrawn="1"/>
        </p:nvCxnSpPr>
        <p:spPr bwMode="auto">
          <a:xfrm>
            <a:off x="3744373" y="628350"/>
            <a:ext cx="66011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69393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rgehen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98ADF2E-6155-2B43-B56C-B67AFE3A4AEB}"/>
              </a:ext>
            </a:extLst>
          </p:cNvPr>
          <p:cNvSpPr/>
          <p:nvPr userDrawn="1"/>
        </p:nvSpPr>
        <p:spPr bwMode="auto">
          <a:xfrm>
            <a:off x="132802" y="428764"/>
            <a:ext cx="3108541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A5F0F3EA-86EF-9C34-754E-3EF36591D6E2}"/>
              </a:ext>
            </a:extLst>
          </p:cNvPr>
          <p:cNvCxnSpPr/>
          <p:nvPr userDrawn="1"/>
        </p:nvCxnSpPr>
        <p:spPr bwMode="auto">
          <a:xfrm>
            <a:off x="3744373" y="628350"/>
            <a:ext cx="66011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53D272A8-364D-A316-6DDA-2FD37A46399C}"/>
              </a:ext>
            </a:extLst>
          </p:cNvPr>
          <p:cNvSpPr/>
          <p:nvPr userDrawn="1"/>
        </p:nvSpPr>
        <p:spPr bwMode="auto">
          <a:xfrm>
            <a:off x="4863155" y="428764"/>
            <a:ext cx="408750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83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rgehen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cxnSp>
        <p:nvCxnSpPr>
          <p:cNvPr id="3" name="Gerade Verbindung 13">
            <a:extLst>
              <a:ext uri="{FF2B5EF4-FFF2-40B4-BE49-F238E27FC236}">
                <a16:creationId xmlns:a16="http://schemas.microsoft.com/office/drawing/2014/main" id="{E4539C9B-10C9-147D-0474-168FF5F152AA}"/>
              </a:ext>
            </a:extLst>
          </p:cNvPr>
          <p:cNvCxnSpPr/>
          <p:nvPr userDrawn="1"/>
        </p:nvCxnSpPr>
        <p:spPr bwMode="auto">
          <a:xfrm>
            <a:off x="3744373" y="628350"/>
            <a:ext cx="66011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2467D440-5E96-EF12-FE22-4B238FBBD65C}"/>
              </a:ext>
            </a:extLst>
          </p:cNvPr>
          <p:cNvSpPr/>
          <p:nvPr userDrawn="1"/>
        </p:nvSpPr>
        <p:spPr bwMode="auto">
          <a:xfrm>
            <a:off x="132802" y="428764"/>
            <a:ext cx="3108541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171AF8-8F45-38C2-8662-58D7858BBFFE}"/>
              </a:ext>
            </a:extLst>
          </p:cNvPr>
          <p:cNvSpPr/>
          <p:nvPr userDrawn="1"/>
        </p:nvSpPr>
        <p:spPr bwMode="auto">
          <a:xfrm>
            <a:off x="4863155" y="428764"/>
            <a:ext cx="408750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340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rgehen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4AFDF0C-D9E4-9A7E-DBB0-1B9848408808}"/>
              </a:ext>
            </a:extLst>
          </p:cNvPr>
          <p:cNvSpPr/>
          <p:nvPr userDrawn="1"/>
        </p:nvSpPr>
        <p:spPr bwMode="auto">
          <a:xfrm>
            <a:off x="132802" y="428764"/>
            <a:ext cx="3108541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F8270F9B-2908-988D-6F77-A74C2CB4C52D}"/>
              </a:ext>
            </a:extLst>
          </p:cNvPr>
          <p:cNvCxnSpPr/>
          <p:nvPr userDrawn="1"/>
        </p:nvCxnSpPr>
        <p:spPr bwMode="auto">
          <a:xfrm>
            <a:off x="3744373" y="628350"/>
            <a:ext cx="66011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919505FA-F36C-F268-E148-FE6DA62B052B}"/>
              </a:ext>
            </a:extLst>
          </p:cNvPr>
          <p:cNvSpPr/>
          <p:nvPr userDrawn="1"/>
        </p:nvSpPr>
        <p:spPr bwMode="auto">
          <a:xfrm>
            <a:off x="4863155" y="428764"/>
            <a:ext cx="408750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515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rgebniss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75FD3AD-BC48-8AEB-8468-480F4035367D}"/>
              </a:ext>
            </a:extLst>
          </p:cNvPr>
          <p:cNvSpPr/>
          <p:nvPr userDrawn="1"/>
        </p:nvSpPr>
        <p:spPr bwMode="auto">
          <a:xfrm>
            <a:off x="6096000" y="428763"/>
            <a:ext cx="2845557" cy="199581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EDB8449-183B-4B80-D545-AA188A1D3639}"/>
              </a:ext>
            </a:extLst>
          </p:cNvPr>
          <p:cNvSpPr/>
          <p:nvPr userDrawn="1"/>
        </p:nvSpPr>
        <p:spPr bwMode="auto">
          <a:xfrm>
            <a:off x="132801" y="428763"/>
            <a:ext cx="4343665" cy="199585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359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rgebnisse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2FF1899-3EAD-078C-B34C-DF3F485356F0}"/>
              </a:ext>
            </a:extLst>
          </p:cNvPr>
          <p:cNvSpPr/>
          <p:nvPr userDrawn="1"/>
        </p:nvSpPr>
        <p:spPr bwMode="auto">
          <a:xfrm>
            <a:off x="132801" y="428764"/>
            <a:ext cx="43436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FD104BBD-4ACF-7B27-92CA-43E884839709}"/>
              </a:ext>
            </a:extLst>
          </p:cNvPr>
          <p:cNvCxnSpPr/>
          <p:nvPr userDrawn="1"/>
        </p:nvCxnSpPr>
        <p:spPr bwMode="auto">
          <a:xfrm>
            <a:off x="4917223" y="628350"/>
            <a:ext cx="76427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86B7B829-DEB8-CE03-37BC-917D1AA5F8FD}"/>
              </a:ext>
            </a:extLst>
          </p:cNvPr>
          <p:cNvSpPr/>
          <p:nvPr userDrawn="1"/>
        </p:nvSpPr>
        <p:spPr bwMode="auto">
          <a:xfrm>
            <a:off x="6096000" y="428764"/>
            <a:ext cx="284555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32702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rgebnisse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F0B9A4B-381C-2122-BAF3-FCE9BC6AB916}"/>
              </a:ext>
            </a:extLst>
          </p:cNvPr>
          <p:cNvSpPr/>
          <p:nvPr userDrawn="1"/>
        </p:nvSpPr>
        <p:spPr bwMode="auto">
          <a:xfrm>
            <a:off x="132801" y="428764"/>
            <a:ext cx="43436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856ACBE2-396A-C7CB-F4CC-41137B24B791}"/>
              </a:ext>
            </a:extLst>
          </p:cNvPr>
          <p:cNvCxnSpPr/>
          <p:nvPr userDrawn="1"/>
        </p:nvCxnSpPr>
        <p:spPr bwMode="auto">
          <a:xfrm>
            <a:off x="4917223" y="628350"/>
            <a:ext cx="76427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6357BB1D-8AC3-0C9A-888A-F916A9F0B730}"/>
              </a:ext>
            </a:extLst>
          </p:cNvPr>
          <p:cNvSpPr/>
          <p:nvPr userDrawn="1"/>
        </p:nvSpPr>
        <p:spPr bwMode="auto">
          <a:xfrm>
            <a:off x="6096000" y="428764"/>
            <a:ext cx="284555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9976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Ergebnisse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9F9F499-B6AA-917F-3431-2B24F57E713D}"/>
              </a:ext>
            </a:extLst>
          </p:cNvPr>
          <p:cNvSpPr/>
          <p:nvPr userDrawn="1"/>
        </p:nvSpPr>
        <p:spPr bwMode="auto">
          <a:xfrm>
            <a:off x="132801" y="428764"/>
            <a:ext cx="4343665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31ADC063-08CF-6BAF-AD88-5E4E7BD23871}"/>
              </a:ext>
            </a:extLst>
          </p:cNvPr>
          <p:cNvCxnSpPr/>
          <p:nvPr userDrawn="1"/>
        </p:nvCxnSpPr>
        <p:spPr bwMode="auto">
          <a:xfrm>
            <a:off x="4917223" y="628350"/>
            <a:ext cx="76427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E189F808-0C2A-447C-242A-B26D41D5CEEA}"/>
              </a:ext>
            </a:extLst>
          </p:cNvPr>
          <p:cNvSpPr/>
          <p:nvPr userDrawn="1"/>
        </p:nvSpPr>
        <p:spPr bwMode="auto">
          <a:xfrm>
            <a:off x="6096000" y="428764"/>
            <a:ext cx="284555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473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Diskussio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cxnSp>
        <p:nvCxnSpPr>
          <p:cNvPr id="4" name="Gerade Verbindung 13">
            <a:extLst>
              <a:ext uri="{FF2B5EF4-FFF2-40B4-BE49-F238E27FC236}">
                <a16:creationId xmlns:a16="http://schemas.microsoft.com/office/drawing/2014/main" id="{7014B081-58FC-6C48-ADB2-EA3ECF1CCDDC}"/>
              </a:ext>
            </a:extLst>
          </p:cNvPr>
          <p:cNvCxnSpPr/>
          <p:nvPr userDrawn="1"/>
        </p:nvCxnSpPr>
        <p:spPr bwMode="auto">
          <a:xfrm>
            <a:off x="6167950" y="628350"/>
            <a:ext cx="77110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B5AFC557-5EF6-AA65-3CC7-072E175905ED}"/>
              </a:ext>
            </a:extLst>
          </p:cNvPr>
          <p:cNvSpPr/>
          <p:nvPr userDrawn="1"/>
        </p:nvSpPr>
        <p:spPr bwMode="auto">
          <a:xfrm>
            <a:off x="7324377" y="428764"/>
            <a:ext cx="1542197" cy="19958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8F9384B-5785-C340-6A1C-1C192C2BAA48}"/>
              </a:ext>
            </a:extLst>
          </p:cNvPr>
          <p:cNvSpPr/>
          <p:nvPr userDrawn="1"/>
        </p:nvSpPr>
        <p:spPr bwMode="auto">
          <a:xfrm>
            <a:off x="132801" y="428764"/>
            <a:ext cx="5681907" cy="24083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4997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Diskussion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87E6F99-D641-8557-DF9C-1F57277651A2}"/>
              </a:ext>
            </a:extLst>
          </p:cNvPr>
          <p:cNvSpPr/>
          <p:nvPr userDrawn="1"/>
        </p:nvSpPr>
        <p:spPr bwMode="auto">
          <a:xfrm>
            <a:off x="132802" y="428764"/>
            <a:ext cx="5642996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9C89EF02-5A3F-4EAD-2F2C-2522133991AB}"/>
              </a:ext>
            </a:extLst>
          </p:cNvPr>
          <p:cNvCxnSpPr/>
          <p:nvPr userDrawn="1"/>
        </p:nvCxnSpPr>
        <p:spPr bwMode="auto">
          <a:xfrm>
            <a:off x="6167950" y="628350"/>
            <a:ext cx="77110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75804D5B-34DF-FFC2-C901-A2A4D3ED6496}"/>
              </a:ext>
            </a:extLst>
          </p:cNvPr>
          <p:cNvSpPr/>
          <p:nvPr userDrawn="1"/>
        </p:nvSpPr>
        <p:spPr bwMode="auto">
          <a:xfrm>
            <a:off x="7324377" y="428764"/>
            <a:ext cx="154219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6926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Diskussion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25144BE-6DD0-ED99-B99C-61A59BD5E0D2}"/>
              </a:ext>
            </a:extLst>
          </p:cNvPr>
          <p:cNvSpPr/>
          <p:nvPr userDrawn="1"/>
        </p:nvSpPr>
        <p:spPr bwMode="auto">
          <a:xfrm>
            <a:off x="132802" y="428764"/>
            <a:ext cx="5696498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DB180BDE-D68B-4C12-A016-E4966A8A313C}"/>
              </a:ext>
            </a:extLst>
          </p:cNvPr>
          <p:cNvCxnSpPr/>
          <p:nvPr userDrawn="1"/>
        </p:nvCxnSpPr>
        <p:spPr bwMode="auto">
          <a:xfrm>
            <a:off x="6167950" y="628350"/>
            <a:ext cx="77110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75D9B22D-6437-AF4C-B362-363C35A41624}"/>
              </a:ext>
            </a:extLst>
          </p:cNvPr>
          <p:cNvSpPr/>
          <p:nvPr userDrawn="1"/>
        </p:nvSpPr>
        <p:spPr bwMode="auto">
          <a:xfrm>
            <a:off x="7324377" y="428764"/>
            <a:ext cx="154219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158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Diskussion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4C357E7-CB49-7B37-7304-FF4D3CAD1B22}"/>
              </a:ext>
            </a:extLst>
          </p:cNvPr>
          <p:cNvSpPr/>
          <p:nvPr userDrawn="1"/>
        </p:nvSpPr>
        <p:spPr bwMode="auto">
          <a:xfrm>
            <a:off x="132802" y="428764"/>
            <a:ext cx="5745136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13">
            <a:extLst>
              <a:ext uri="{FF2B5EF4-FFF2-40B4-BE49-F238E27FC236}">
                <a16:creationId xmlns:a16="http://schemas.microsoft.com/office/drawing/2014/main" id="{9802326B-37EE-B807-F9D9-DB0807A49FAF}"/>
              </a:ext>
            </a:extLst>
          </p:cNvPr>
          <p:cNvCxnSpPr/>
          <p:nvPr userDrawn="1"/>
        </p:nvCxnSpPr>
        <p:spPr bwMode="auto">
          <a:xfrm>
            <a:off x="6167950" y="628350"/>
            <a:ext cx="77110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29BF92E9-85CB-59F3-9E4E-0F79EDDF4B86}"/>
              </a:ext>
            </a:extLst>
          </p:cNvPr>
          <p:cNvSpPr/>
          <p:nvPr userDrawn="1"/>
        </p:nvSpPr>
        <p:spPr bwMode="auto">
          <a:xfrm>
            <a:off x="7324377" y="428764"/>
            <a:ext cx="1542197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192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Zusammenfassung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598400"/>
            <a:ext cx="11345332" cy="4874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2000" noProof="0" dirty="0" smtClean="0"/>
            </a:lvl1pPr>
            <a:lvl2pPr>
              <a:lnSpc>
                <a:spcPct val="114000"/>
              </a:lnSpc>
              <a:defRPr lang="de-DE" sz="2000" noProof="0" dirty="0" smtClean="0"/>
            </a:lvl2pPr>
            <a:lvl3pPr>
              <a:defRPr sz="18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endParaRPr lang="de-DE" noProof="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cxnSp>
        <p:nvCxnSpPr>
          <p:cNvPr id="4" name="Gerade Verbindung 13">
            <a:extLst>
              <a:ext uri="{FF2B5EF4-FFF2-40B4-BE49-F238E27FC236}">
                <a16:creationId xmlns:a16="http://schemas.microsoft.com/office/drawing/2014/main" id="{71BDF031-F54D-C40B-D9E4-90B539C1280D}"/>
              </a:ext>
            </a:extLst>
          </p:cNvPr>
          <p:cNvCxnSpPr/>
          <p:nvPr userDrawn="1"/>
        </p:nvCxnSpPr>
        <p:spPr bwMode="auto">
          <a:xfrm>
            <a:off x="7411859" y="628350"/>
            <a:ext cx="13238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D8529799-750A-97F0-9607-B536064A9BBE}"/>
              </a:ext>
            </a:extLst>
          </p:cNvPr>
          <p:cNvSpPr/>
          <p:nvPr userDrawn="1"/>
        </p:nvSpPr>
        <p:spPr bwMode="auto">
          <a:xfrm>
            <a:off x="132801" y="428764"/>
            <a:ext cx="6820734" cy="199586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3018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Zusammenfassung 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98399"/>
            <a:ext cx="12192000" cy="488880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030A953-D20A-D256-96AE-B6483D593BE7}"/>
              </a:ext>
            </a:extLst>
          </p:cNvPr>
          <p:cNvSpPr/>
          <p:nvPr userDrawn="1"/>
        </p:nvSpPr>
        <p:spPr bwMode="auto">
          <a:xfrm>
            <a:off x="132801" y="428764"/>
            <a:ext cx="682073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13">
            <a:extLst>
              <a:ext uri="{FF2B5EF4-FFF2-40B4-BE49-F238E27FC236}">
                <a16:creationId xmlns:a16="http://schemas.microsoft.com/office/drawing/2014/main" id="{9F55C313-A45A-C699-2978-9B465083A81A}"/>
              </a:ext>
            </a:extLst>
          </p:cNvPr>
          <p:cNvCxnSpPr/>
          <p:nvPr userDrawn="1"/>
        </p:nvCxnSpPr>
        <p:spPr bwMode="auto">
          <a:xfrm>
            <a:off x="7411859" y="628350"/>
            <a:ext cx="13238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323247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Zusammenfassung 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9711BF8-D490-B0FC-EB43-BA3C985C7610}"/>
              </a:ext>
            </a:extLst>
          </p:cNvPr>
          <p:cNvSpPr/>
          <p:nvPr userDrawn="1"/>
        </p:nvSpPr>
        <p:spPr bwMode="auto">
          <a:xfrm>
            <a:off x="132801" y="428764"/>
            <a:ext cx="682073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13">
            <a:extLst>
              <a:ext uri="{FF2B5EF4-FFF2-40B4-BE49-F238E27FC236}">
                <a16:creationId xmlns:a16="http://schemas.microsoft.com/office/drawing/2014/main" id="{B8499CD1-89CC-48F1-286F-27C7EC02B56F}"/>
              </a:ext>
            </a:extLst>
          </p:cNvPr>
          <p:cNvCxnSpPr/>
          <p:nvPr userDrawn="1"/>
        </p:nvCxnSpPr>
        <p:spPr bwMode="auto">
          <a:xfrm>
            <a:off x="7411859" y="628350"/>
            <a:ext cx="13238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721657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Zusammenfassung 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289051"/>
            <a:ext cx="12192000" cy="4198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3" y="1598400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noProof="0" dirty="0" smtClean="0"/>
            </a:lvl1pPr>
          </a:lstStyle>
          <a:p>
            <a:pPr lvl="0">
              <a:lnSpc>
                <a:spcPct val="114000"/>
              </a:lnSpc>
            </a:pPr>
            <a:r>
              <a:rPr lang="de-DE" noProof="0" dirty="0"/>
              <a:t>Inhalt durch Klicken bearbeiten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313351"/>
            <a:ext cx="5657088" cy="414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de-DE" sz="2000" dirty="0" smtClean="0"/>
            </a:lvl1pPr>
            <a:lvl2pPr>
              <a:defRPr lang="de-DE" sz="2000" dirty="0" smtClean="0"/>
            </a:lvl2pPr>
            <a:lvl3pPr>
              <a:defRPr lang="de-DE" sz="1600" dirty="0" smtClean="0"/>
            </a:lvl3pPr>
          </a:lstStyle>
          <a:p>
            <a:pPr lvl="0">
              <a:lnSpc>
                <a:spcPct val="114000"/>
              </a:lnSpc>
            </a:pPr>
            <a:r>
              <a:rPr lang="de-DE"/>
              <a:t>Mastertextformat bearbeiten</a:t>
            </a:r>
          </a:p>
          <a:p>
            <a:pPr lvl="1">
              <a:lnSpc>
                <a:spcPct val="114000"/>
              </a:lnSpc>
            </a:pPr>
            <a:r>
              <a:rPr lang="de-DE"/>
              <a:t>Zweite Ebene</a:t>
            </a:r>
          </a:p>
          <a:p>
            <a:pPr lvl="2">
              <a:lnSpc>
                <a:spcPct val="114000"/>
              </a:lnSpc>
            </a:pPr>
            <a:r>
              <a:rPr lang="de-DE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313481"/>
            <a:ext cx="5659200" cy="414503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25454" y="669600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de-DE" sz="2400" b="1" noProof="0" dirty="0"/>
            </a:lvl1pPr>
          </a:lstStyle>
          <a:p>
            <a:pPr lvl="0">
              <a:lnSpc>
                <a:spcPts val="3200"/>
              </a:lnSpc>
            </a:pPr>
            <a:r>
              <a:rPr lang="de-DE" noProof="0" dirty="0"/>
              <a:t>Titel durch Klicken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2374E1B-AAFD-7DFE-90D0-5B2244D2D3A8}"/>
              </a:ext>
            </a:extLst>
          </p:cNvPr>
          <p:cNvSpPr/>
          <p:nvPr userDrawn="1"/>
        </p:nvSpPr>
        <p:spPr bwMode="auto">
          <a:xfrm>
            <a:off x="132801" y="428764"/>
            <a:ext cx="6820734" cy="173008"/>
          </a:xfrm>
          <a:prstGeom prst="rect">
            <a:avLst/>
          </a:prstGeom>
          <a:solidFill>
            <a:srgbClr val="FFFFFF">
              <a:alpha val="80000"/>
            </a:srgbClr>
          </a:solidFill>
          <a:ln w="9525" algn="ctr">
            <a:noFill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" name="Gerade Verbindung 13">
            <a:extLst>
              <a:ext uri="{FF2B5EF4-FFF2-40B4-BE49-F238E27FC236}">
                <a16:creationId xmlns:a16="http://schemas.microsoft.com/office/drawing/2014/main" id="{6D8D5C4C-E8EF-8D00-AAE4-8CDD6224A4B5}"/>
              </a:ext>
            </a:extLst>
          </p:cNvPr>
          <p:cNvCxnSpPr/>
          <p:nvPr userDrawn="1"/>
        </p:nvCxnSpPr>
        <p:spPr bwMode="auto">
          <a:xfrm>
            <a:off x="7411859" y="628350"/>
            <a:ext cx="132383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6612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9D9256B-9E94-3D40-46DA-24B6A37136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1572207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3" imgW="473" imgH="473" progId="TCLayout.ActiveDocument.1">
                  <p:embed/>
                </p:oleObj>
              </mc:Choice>
              <mc:Fallback>
                <p:oleObj name="think-cell Folie" r:id="rId3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626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8" r:id="rId2"/>
    <p:sldLayoutId id="2147483899" r:id="rId3"/>
    <p:sldLayoutId id="2147483900" r:id="rId4"/>
    <p:sldLayoutId id="2147483901" r:id="rId5"/>
    <p:sldLayoutId id="2147483927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  <p:sldLayoutId id="2147483916" r:id="rId20"/>
    <p:sldLayoutId id="2147483917" r:id="rId21"/>
    <p:sldLayoutId id="2147483918" r:id="rId22"/>
    <p:sldLayoutId id="2147483919" r:id="rId23"/>
    <p:sldLayoutId id="2147483920" r:id="rId24"/>
    <p:sldLayoutId id="2147483921" r:id="rId25"/>
    <p:sldLayoutId id="2147483922" r:id="rId26"/>
    <p:sldLayoutId id="2147483923" r:id="rId27"/>
    <p:sldLayoutId id="2147483924" r:id="rId28"/>
    <p:sldLayoutId id="2147483925" r:id="rId29"/>
    <p:sldLayoutId id="2147483926" r:id="rId30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3BAB-FBE2-F487-04DE-B5C9833F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A1C67098-7B00-91D1-D515-67F41007C7B3}"/>
              </a:ext>
            </a:extLst>
          </p:cNvPr>
          <p:cNvSpPr/>
          <p:nvPr/>
        </p:nvSpPr>
        <p:spPr>
          <a:xfrm>
            <a:off x="550342" y="948949"/>
            <a:ext cx="0" cy="4951217"/>
          </a:xfrm>
          <a:prstGeom prst="line">
            <a:avLst/>
          </a:prstGeom>
          <a:noFill/>
          <a:ln w="28575">
            <a:solidFill>
              <a:srgbClr val="AFC0CC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FF080BD-EA79-4527-450E-53736CA44F4F}"/>
              </a:ext>
            </a:extLst>
          </p:cNvPr>
          <p:cNvSpPr/>
          <p:nvPr/>
        </p:nvSpPr>
        <p:spPr>
          <a:xfrm>
            <a:off x="938357" y="564901"/>
            <a:ext cx="10661904" cy="1118506"/>
          </a:xfrm>
          <a:prstGeom prst="roundRect">
            <a:avLst>
              <a:gd name="adj" fmla="val 3571"/>
            </a:avLst>
          </a:prstGeom>
          <a:solidFill>
            <a:srgbClr val="F3F6F8"/>
          </a:solidFill>
          <a:ln w="2857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AF61F97-9B19-0985-5598-77213E550E64}"/>
              </a:ext>
            </a:extLst>
          </p:cNvPr>
          <p:cNvSpPr>
            <a:spLocks noChangeAspect="1"/>
          </p:cNvSpPr>
          <p:nvPr/>
        </p:nvSpPr>
        <p:spPr>
          <a:xfrm>
            <a:off x="353823" y="926154"/>
            <a:ext cx="396000" cy="396000"/>
          </a:xfrm>
          <a:prstGeom prst="ellipse">
            <a:avLst/>
          </a:prstGeom>
          <a:solidFill>
            <a:srgbClr val="2E5266"/>
          </a:solidFill>
          <a:ln w="158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1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1F23C55-2222-3450-57B0-CEBF36B86D86}"/>
              </a:ext>
            </a:extLst>
          </p:cNvPr>
          <p:cNvSpPr txBox="1"/>
          <p:nvPr/>
        </p:nvSpPr>
        <p:spPr>
          <a:xfrm>
            <a:off x="1066373" y="564901"/>
            <a:ext cx="1737360" cy="111850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E5266"/>
                </a:solidFill>
                <a:latin typeface="+mn-lt"/>
                <a:ea typeface="Calibri" pitchFamily="34" charset="-122"/>
                <a:cs typeface="Calibri" pitchFamily="34" charset="-120"/>
              </a:rPr>
              <a:t>Input Data</a:t>
            </a:r>
            <a:endParaRPr lang="en-US" dirty="0">
              <a:latin typeface="+mn-lt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Calibri" pitchFamily="34" charset="-122"/>
                <a:cs typeface="Calibri" pitchFamily="34" charset="-120"/>
              </a:rPr>
              <a:t>user provided sets </a:t>
            </a:r>
            <a:br>
              <a:rPr lang="en-US" sz="1200" dirty="0">
                <a:solidFill>
                  <a:schemeClr val="tx2"/>
                </a:solidFill>
                <a:latin typeface="+mn-lt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chemeClr val="tx2"/>
                </a:solidFill>
                <a:latin typeface="+mn-lt"/>
                <a:ea typeface="Calibri" pitchFamily="34" charset="-122"/>
                <a:cs typeface="Calibri" pitchFamily="34" charset="-120"/>
              </a:rPr>
              <a:t>and parameters</a:t>
            </a:r>
            <a:endParaRPr lang="en-US" sz="24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7FB4F65B-DCDA-CEC6-C59A-E8EAA4155B66}"/>
              </a:ext>
            </a:extLst>
          </p:cNvPr>
          <p:cNvSpPr/>
          <p:nvPr/>
        </p:nvSpPr>
        <p:spPr>
          <a:xfrm>
            <a:off x="938357" y="1774848"/>
            <a:ext cx="10661904" cy="2770452"/>
          </a:xfrm>
          <a:prstGeom prst="roundRect">
            <a:avLst>
              <a:gd name="adj" fmla="val 2459"/>
            </a:avLst>
          </a:prstGeom>
          <a:solidFill>
            <a:srgbClr val="F3F6F8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0A135B24-3F39-075E-BBAE-AFEAAC11DE37}"/>
              </a:ext>
            </a:extLst>
          </p:cNvPr>
          <p:cNvSpPr>
            <a:spLocks noChangeAspect="1"/>
          </p:cNvSpPr>
          <p:nvPr/>
        </p:nvSpPr>
        <p:spPr>
          <a:xfrm>
            <a:off x="348350" y="2808412"/>
            <a:ext cx="396000" cy="396000"/>
          </a:xfrm>
          <a:prstGeom prst="ellipse">
            <a:avLst/>
          </a:prstGeom>
          <a:solidFill>
            <a:srgbClr val="2E5266"/>
          </a:solidFill>
          <a:ln w="158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2</a:t>
            </a: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F6FFE1F-E007-4898-7B99-31770B81E998}"/>
              </a:ext>
            </a:extLst>
          </p:cNvPr>
          <p:cNvSpPr txBox="1"/>
          <p:nvPr/>
        </p:nvSpPr>
        <p:spPr>
          <a:xfrm>
            <a:off x="1066373" y="1769662"/>
            <a:ext cx="1737360" cy="2770451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E5266"/>
                </a:solidFill>
                <a:latin typeface="+mn-lt"/>
                <a:ea typeface="Calibri" pitchFamily="34" charset="-122"/>
                <a:cs typeface="Calibri" pitchFamily="34" charset="-120"/>
              </a:rPr>
              <a:t>Constraints</a:t>
            </a:r>
            <a:endParaRPr lang="en-US" dirty="0">
              <a:latin typeface="+mn-lt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C7688"/>
                </a:solidFill>
                <a:latin typeface="+mn-lt"/>
                <a:ea typeface="Calibri" pitchFamily="34" charset="-122"/>
                <a:cs typeface="Calibri" pitchFamily="34" charset="-120"/>
              </a:rPr>
              <a:t>8x linear, 1x quadratic</a:t>
            </a:r>
            <a:endParaRPr lang="en-US" sz="2400" dirty="0">
              <a:latin typeface="+mn-lt"/>
            </a:endParaRPr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85A5C674-6A12-3F54-870A-13B174C19412}"/>
              </a:ext>
            </a:extLst>
          </p:cNvPr>
          <p:cNvSpPr/>
          <p:nvPr/>
        </p:nvSpPr>
        <p:spPr>
          <a:xfrm>
            <a:off x="938357" y="5451242"/>
            <a:ext cx="10661904" cy="718932"/>
          </a:xfrm>
          <a:prstGeom prst="roundRect">
            <a:avLst>
              <a:gd name="adj" fmla="val 5357"/>
            </a:avLst>
          </a:prstGeom>
          <a:solidFill>
            <a:srgbClr val="F3F6F8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2754D88E-2F05-27C5-ABED-320878DF2352}"/>
              </a:ext>
            </a:extLst>
          </p:cNvPr>
          <p:cNvSpPr>
            <a:spLocks noChangeAspect="1"/>
          </p:cNvSpPr>
          <p:nvPr/>
        </p:nvSpPr>
        <p:spPr>
          <a:xfrm>
            <a:off x="354122" y="5601585"/>
            <a:ext cx="396000" cy="396000"/>
          </a:xfrm>
          <a:prstGeom prst="ellipse">
            <a:avLst/>
          </a:prstGeom>
          <a:solidFill>
            <a:srgbClr val="2E5266"/>
          </a:solidFill>
          <a:ln w="158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4</a:t>
            </a: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6455E3DB-3341-FF05-823D-60F012161EEA}"/>
              </a:ext>
            </a:extLst>
          </p:cNvPr>
          <p:cNvSpPr txBox="1"/>
          <p:nvPr/>
        </p:nvSpPr>
        <p:spPr>
          <a:xfrm>
            <a:off x="1066372" y="5446056"/>
            <a:ext cx="1865375" cy="72411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E5266"/>
                </a:solidFill>
                <a:latin typeface="+mn-lt"/>
                <a:ea typeface="Calibri" pitchFamily="34" charset="-122"/>
                <a:cs typeface="Calibri" pitchFamily="34" charset="-120"/>
              </a:rPr>
              <a:t>Solving</a:t>
            </a:r>
            <a:endParaRPr lang="en-US" dirty="0">
              <a:latin typeface="+mn-lt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C7688"/>
                </a:solidFill>
                <a:latin typeface="+mn-lt"/>
                <a:ea typeface="Calibri" pitchFamily="34" charset="-122"/>
                <a:cs typeface="Calibri" pitchFamily="34" charset="-120"/>
              </a:rPr>
              <a:t>Python + </a:t>
            </a:r>
            <a:r>
              <a:rPr lang="en-US" sz="1200" dirty="0" err="1">
                <a:solidFill>
                  <a:srgbClr val="5C7688"/>
                </a:solidFill>
                <a:latin typeface="+mn-lt"/>
                <a:ea typeface="Calibri" pitchFamily="34" charset="-122"/>
                <a:cs typeface="Calibri" pitchFamily="34" charset="-120"/>
              </a:rPr>
              <a:t>Gurobi</a:t>
            </a:r>
            <a:endParaRPr lang="en-US" sz="2400" dirty="0">
              <a:latin typeface="+mn-lt"/>
            </a:endParaRPr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8AC6470A-55BF-4EE4-6A9C-BC78F6FB90A6}"/>
              </a:ext>
            </a:extLst>
          </p:cNvPr>
          <p:cNvSpPr/>
          <p:nvPr/>
        </p:nvSpPr>
        <p:spPr>
          <a:xfrm>
            <a:off x="2931749" y="656342"/>
            <a:ext cx="2011680" cy="9360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+mn-lt"/>
                <a:ea typeface="Calibri" pitchFamily="34" charset="-122"/>
                <a:cs typeface="Calibri" pitchFamily="34" charset="-120"/>
              </a:rPr>
              <a:t>Fleet</a:t>
            </a:r>
            <a:endParaRPr lang="en-US" sz="13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capacity, consumption, charging power, price, cycle warranty</a:t>
            </a:r>
            <a:endParaRPr lang="en-US" sz="1300" dirty="0">
              <a:latin typeface="+mn-lt"/>
            </a:endParaRPr>
          </a:p>
          <a:p>
            <a:endParaRPr lang="en-US" sz="1300" dirty="0">
              <a:latin typeface="+mn-lt"/>
            </a:endParaRPr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B6329AE8-0987-E5B5-A431-7B1CD5B38061}"/>
              </a:ext>
            </a:extLst>
          </p:cNvPr>
          <p:cNvSpPr/>
          <p:nvPr/>
        </p:nvSpPr>
        <p:spPr>
          <a:xfrm>
            <a:off x="5108021" y="656342"/>
            <a:ext cx="2011680" cy="9360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+mn-lt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routing for trips, chaining for routes, driving windows, filtering</a:t>
            </a:r>
            <a:endParaRPr lang="en-US" sz="1300" dirty="0">
              <a:latin typeface="+mn-lt"/>
            </a:endParaRPr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6231E22E-4D43-9AD7-699A-DD27983CCDAC}"/>
              </a:ext>
            </a:extLst>
          </p:cNvPr>
          <p:cNvSpPr/>
          <p:nvPr/>
        </p:nvSpPr>
        <p:spPr>
          <a:xfrm>
            <a:off x="7284293" y="656342"/>
            <a:ext cx="2011680" cy="9360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+mn-lt"/>
                <a:ea typeface="Calibri" pitchFamily="34" charset="-122"/>
                <a:cs typeface="Calibri" pitchFamily="34" charset="-120"/>
              </a:rPr>
              <a:t>Depot</a:t>
            </a:r>
            <a:endParaRPr lang="en-US" sz="13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baseline load, grid connection, PV generation, charging stations</a:t>
            </a:r>
            <a:endParaRPr lang="en-US" sz="1300" dirty="0">
              <a:latin typeface="+mn-lt"/>
            </a:endParaRPr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CBCC707E-5341-A536-7B99-B68BE71D076A}"/>
              </a:ext>
            </a:extLst>
          </p:cNvPr>
          <p:cNvSpPr/>
          <p:nvPr/>
        </p:nvSpPr>
        <p:spPr>
          <a:xfrm>
            <a:off x="9460565" y="656342"/>
            <a:ext cx="2011680" cy="93600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+mn-lt"/>
                <a:ea typeface="Calibri" pitchFamily="34" charset="-122"/>
                <a:cs typeface="Calibri" pitchFamily="34" charset="-120"/>
              </a:rPr>
              <a:t>Markets</a:t>
            </a:r>
            <a:endParaRPr lang="en-US" sz="13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private spot energy, public charging, diesel, toll</a:t>
            </a:r>
            <a:endParaRPr lang="en-US" sz="1300" dirty="0">
              <a:latin typeface="+mn-lt"/>
            </a:endParaRPr>
          </a:p>
        </p:txBody>
      </p:sp>
      <p:sp>
        <p:nvSpPr>
          <p:cNvPr id="87" name="Shape 41">
            <a:extLst>
              <a:ext uri="{FF2B5EF4-FFF2-40B4-BE49-F238E27FC236}">
                <a16:creationId xmlns:a16="http://schemas.microsoft.com/office/drawing/2014/main" id="{9FC0D91A-B2D8-A51D-B5C7-97D454712B7B}"/>
              </a:ext>
            </a:extLst>
          </p:cNvPr>
          <p:cNvSpPr/>
          <p:nvPr/>
        </p:nvSpPr>
        <p:spPr>
          <a:xfrm>
            <a:off x="2931749" y="2057963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C1: Trip Coverage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200" i="1" dirty="0">
                <a:latin typeface="+mn-lt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 ∈ </a:t>
            </a:r>
            <a:r>
              <a:rPr lang="en-US" sz="1200" i="1" dirty="0">
                <a:latin typeface="+mn-lt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 served by exactly one pair (</a:t>
            </a:r>
            <a:r>
              <a:rPr lang="en-US" sz="1200" i="1" dirty="0">
                <a:latin typeface="+mn-lt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>
                <a:latin typeface="+mn-lt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D364D066-1C88-A3D4-F0EC-44C2FDEB0786}"/>
              </a:ext>
            </a:extLst>
          </p:cNvPr>
          <p:cNvSpPr/>
          <p:nvPr/>
        </p:nvSpPr>
        <p:spPr>
          <a:xfrm>
            <a:off x="5108021" y="2057963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C2: Activity Exclusivity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one event per vehicle and time step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  <p:sp>
        <p:nvSpPr>
          <p:cNvPr id="95" name="Shape 45">
            <a:extLst>
              <a:ext uri="{FF2B5EF4-FFF2-40B4-BE49-F238E27FC236}">
                <a16:creationId xmlns:a16="http://schemas.microsoft.com/office/drawing/2014/main" id="{AD997FE0-7E13-A56F-2A04-0426FBC04E68}"/>
              </a:ext>
            </a:extLst>
          </p:cNvPr>
          <p:cNvSpPr/>
          <p:nvPr/>
        </p:nvSpPr>
        <p:spPr>
          <a:xfrm>
            <a:off x="7284293" y="2057962"/>
            <a:ext cx="2011680" cy="62299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C3: Routing &amp; Trips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depot-anchored routes, trip chaining</a:t>
            </a:r>
            <a:endParaRPr lang="en-US" sz="1200" dirty="0">
              <a:latin typeface="+mn-lt"/>
            </a:endParaRPr>
          </a:p>
        </p:txBody>
      </p:sp>
      <p:sp>
        <p:nvSpPr>
          <p:cNvPr id="99" name="Shape 47">
            <a:extLst>
              <a:ext uri="{FF2B5EF4-FFF2-40B4-BE49-F238E27FC236}">
                <a16:creationId xmlns:a16="http://schemas.microsoft.com/office/drawing/2014/main" id="{BA1F7B05-A0C5-5EB6-B491-628CA14523C0}"/>
              </a:ext>
            </a:extLst>
          </p:cNvPr>
          <p:cNvSpPr/>
          <p:nvPr/>
        </p:nvSpPr>
        <p:spPr>
          <a:xfrm>
            <a:off x="9460565" y="2057963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C4: Crew Rules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shift length, driving time, mandatory brakes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  <p:sp>
        <p:nvSpPr>
          <p:cNvPr id="103" name="Shape 49">
            <a:extLst>
              <a:ext uri="{FF2B5EF4-FFF2-40B4-BE49-F238E27FC236}">
                <a16:creationId xmlns:a16="http://schemas.microsoft.com/office/drawing/2014/main" id="{08F1C576-1ADB-1284-A63F-FA2F240C4E67}"/>
              </a:ext>
            </a:extLst>
          </p:cNvPr>
          <p:cNvSpPr/>
          <p:nvPr/>
        </p:nvSpPr>
        <p:spPr>
          <a:xfrm>
            <a:off x="2931749" y="2777055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C5: SoC Dynamics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SoC tracking, trip metering, start/end target</a:t>
            </a:r>
            <a:endParaRPr lang="en-US" sz="1200" dirty="0">
              <a:latin typeface="+mn-lt"/>
            </a:endParaRPr>
          </a:p>
        </p:txBody>
      </p:sp>
      <p:sp>
        <p:nvSpPr>
          <p:cNvPr id="107" name="Shape 51">
            <a:extLst>
              <a:ext uri="{FF2B5EF4-FFF2-40B4-BE49-F238E27FC236}">
                <a16:creationId xmlns:a16="http://schemas.microsoft.com/office/drawing/2014/main" id="{5CA7EC90-F88C-6B6D-DABA-0E40A1041B04}"/>
              </a:ext>
            </a:extLst>
          </p:cNvPr>
          <p:cNvSpPr/>
          <p:nvPr/>
        </p:nvSpPr>
        <p:spPr>
          <a:xfrm>
            <a:off x="5108021" y="2777055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C6: Power &amp; Conversion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physical battery flow, charging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  <p:sp>
        <p:nvSpPr>
          <p:cNvPr id="111" name="Shape 53">
            <a:extLst>
              <a:ext uri="{FF2B5EF4-FFF2-40B4-BE49-F238E27FC236}">
                <a16:creationId xmlns:a16="http://schemas.microsoft.com/office/drawing/2014/main" id="{BFF25761-D31F-0679-3B9D-E5AD85948BF4}"/>
              </a:ext>
            </a:extLst>
          </p:cNvPr>
          <p:cNvSpPr/>
          <p:nvPr/>
        </p:nvSpPr>
        <p:spPr>
          <a:xfrm>
            <a:off x="7284293" y="2777055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C7: Charger Allocation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select strongest station, power &amp; energy caps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  <p:sp>
        <p:nvSpPr>
          <p:cNvPr id="115" name="Shape 55">
            <a:extLst>
              <a:ext uri="{FF2B5EF4-FFF2-40B4-BE49-F238E27FC236}">
                <a16:creationId xmlns:a16="http://schemas.microsoft.com/office/drawing/2014/main" id="{FD3593CC-2B7D-7340-3A53-0798D3C87681}"/>
              </a:ext>
            </a:extLst>
          </p:cNvPr>
          <p:cNvSpPr/>
          <p:nvPr/>
        </p:nvSpPr>
        <p:spPr>
          <a:xfrm>
            <a:off x="9460565" y="2777055"/>
            <a:ext cx="2011680" cy="6480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C8: Grid Coupling</a:t>
            </a:r>
            <a:endParaRPr lang="en-US" sz="1200" dirty="0">
              <a:latin typeface="+mn-lt"/>
            </a:endParaRPr>
          </a:p>
          <a:p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site import, peak cap, PV allocation, V2V netting</a:t>
            </a:r>
            <a:endParaRPr lang="en-US" sz="1200" dirty="0">
              <a:latin typeface="+mn-lt"/>
            </a:endParaRPr>
          </a:p>
          <a:p>
            <a:endParaRPr lang="en-US" sz="1200" dirty="0">
              <a:latin typeface="+mn-lt"/>
            </a:endParaRPr>
          </a:p>
        </p:txBody>
      </p:sp>
      <p:sp>
        <p:nvSpPr>
          <p:cNvPr id="127" name="Shape 61">
            <a:extLst>
              <a:ext uri="{FF2B5EF4-FFF2-40B4-BE49-F238E27FC236}">
                <a16:creationId xmlns:a16="http://schemas.microsoft.com/office/drawing/2014/main" id="{297B1280-A9FD-99A5-5628-2CB6484CCE55}"/>
              </a:ext>
            </a:extLst>
          </p:cNvPr>
          <p:cNvSpPr/>
          <p:nvPr/>
        </p:nvSpPr>
        <p:spPr>
          <a:xfrm>
            <a:off x="2931749" y="3739422"/>
            <a:ext cx="40233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ts val="1700"/>
              </a:lnSpc>
            </a:pPr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Degradation modeling</a:t>
            </a:r>
            <a:endParaRPr lang="en-US" sz="1200" dirty="0">
              <a:latin typeface="+mn-lt"/>
            </a:endParaRPr>
          </a:p>
          <a:p>
            <a:pPr>
              <a:lnSpc>
                <a:spcPts val="1700"/>
              </a:lnSpc>
            </a:pPr>
            <a:r>
              <a:rPr lang="en-US" sz="1200" i="1" dirty="0">
                <a:latin typeface="+mn-lt"/>
                <a:ea typeface="Calibri" pitchFamily="34" charset="-122"/>
                <a:cs typeface="Calibri" pitchFamily="34" charset="-120"/>
              </a:rPr>
              <a:t>ξ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200" i="1" dirty="0" err="1">
                <a:latin typeface="+mn-lt"/>
                <a:ea typeface="Calibri" pitchFamily="34" charset="-122"/>
                <a:cs typeface="Calibri" pitchFamily="34" charset="-120"/>
              </a:rPr>
              <a:t>SoC</a:t>
            </a:r>
            <a:r>
              <a:rPr lang="en-US" sz="1200" baseline="-40000" dirty="0" err="1">
                <a:latin typeface="+mn-lt"/>
                <a:ea typeface="Calibri" pitchFamily="34" charset="-122"/>
                <a:cs typeface="Calibri" pitchFamily="34" charset="-120"/>
              </a:rPr>
              <a:t>m,t</a:t>
            </a:r>
            <a:r>
              <a:rPr lang="en-US" sz="1200" baseline="-40000" dirty="0">
                <a:latin typeface="+mn-lt"/>
                <a:ea typeface="Calibri" pitchFamily="34" charset="-122"/>
                <a:cs typeface="Calibri" pitchFamily="34" charset="-120"/>
              </a:rPr>
              <a:t>–1 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200" i="1" dirty="0" err="1">
                <a:latin typeface="+mn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00" baseline="30000" dirty="0" err="1">
                <a:latin typeface="+mn-lt"/>
                <a:ea typeface="Calibri" pitchFamily="34" charset="-122"/>
                <a:cs typeface="Calibri" pitchFamily="34" charset="-120"/>
              </a:rPr>
              <a:t>cap</a:t>
            </a:r>
            <a:r>
              <a:rPr lang="en-US" sz="1200" baseline="-40000" dirty="0" err="1">
                <a:latin typeface="+mn-lt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200" baseline="-40000" dirty="0"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1200" i="1" dirty="0">
                <a:ea typeface="Calibri" pitchFamily="34" charset="-122"/>
                <a:cs typeface="Calibri" pitchFamily="34" charset="-120"/>
              </a:rPr>
              <a:t>w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>
                <a:ea typeface="Calibri" pitchFamily="34" charset="-122"/>
                <a:cs typeface="Calibri" pitchFamily="34" charset="-120"/>
              </a:rPr>
              <a:t>ξ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) = 1 + 4</a:t>
            </a:r>
            <a:r>
              <a:rPr lang="en-US" sz="1200" i="1" dirty="0">
                <a:ea typeface="Calibri" pitchFamily="34" charset="-122"/>
                <a:cs typeface="Calibri" pitchFamily="34" charset="-120"/>
              </a:rPr>
              <a:t>κ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>
                <a:ea typeface="Calibri" pitchFamily="34" charset="-122"/>
                <a:cs typeface="Calibri" pitchFamily="34" charset="-120"/>
              </a:rPr>
              <a:t>ξ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– 0.5)²</a:t>
            </a:r>
            <a:endParaRPr lang="en-US" sz="1200" baseline="-40000" dirty="0">
              <a:latin typeface="+mn-lt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700"/>
              </a:lnSpc>
            </a:pP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(energy-throughput + SoC-dependent ageing weight)</a:t>
            </a:r>
            <a:endParaRPr lang="en-US" sz="1200" dirty="0">
              <a:latin typeface="+mn-lt"/>
            </a:endParaRPr>
          </a:p>
        </p:txBody>
      </p:sp>
      <p:sp>
        <p:nvSpPr>
          <p:cNvPr id="131" name="Shape 63">
            <a:extLst>
              <a:ext uri="{FF2B5EF4-FFF2-40B4-BE49-F238E27FC236}">
                <a16:creationId xmlns:a16="http://schemas.microsoft.com/office/drawing/2014/main" id="{CCFCD061-7E06-5EAD-94E0-EF11111EE99B}"/>
              </a:ext>
            </a:extLst>
          </p:cNvPr>
          <p:cNvSpPr/>
          <p:nvPr/>
        </p:nvSpPr>
        <p:spPr>
          <a:xfrm>
            <a:off x="7448885" y="3739422"/>
            <a:ext cx="40233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ts val="1700"/>
              </a:lnSpc>
            </a:pPr>
            <a:r>
              <a:rPr lang="en-US" sz="1200" b="1" dirty="0">
                <a:latin typeface="+mn-lt"/>
                <a:ea typeface="Calibri" pitchFamily="34" charset="-122"/>
                <a:cs typeface="Calibri" pitchFamily="34" charset="-120"/>
              </a:rPr>
              <a:t>Bilinear product</a:t>
            </a:r>
            <a:endParaRPr lang="en-US" sz="1200" dirty="0">
              <a:latin typeface="+mn-lt"/>
            </a:endParaRPr>
          </a:p>
          <a:p>
            <a:pPr>
              <a:lnSpc>
                <a:spcPts val="1700"/>
              </a:lnSpc>
            </a:pPr>
            <a:r>
              <a:rPr lang="en-US" sz="1200" i="1" dirty="0" err="1">
                <a:latin typeface="+mn-lt"/>
                <a:ea typeface="Calibri" pitchFamily="34" charset="-122"/>
                <a:cs typeface="Calibri" pitchFamily="34" charset="-120"/>
              </a:rPr>
              <a:t>w</a:t>
            </a:r>
            <a:r>
              <a:rPr lang="en-US" sz="1200" baseline="-40000" dirty="0" err="1">
                <a:latin typeface="+mn-lt"/>
                <a:ea typeface="Calibri" pitchFamily="34" charset="-122"/>
                <a:cs typeface="Calibri" pitchFamily="34" charset="-120"/>
              </a:rPr>
              <a:t>m,t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i="1" dirty="0">
                <a:latin typeface="+mn-lt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00" baseline="30000" dirty="0">
                <a:latin typeface="+mn-lt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200" baseline="-40000" dirty="0" err="1">
                <a:latin typeface="+mn-lt"/>
                <a:ea typeface="Calibri" pitchFamily="34" charset="-122"/>
                <a:cs typeface="Calibri" pitchFamily="34" charset="-120"/>
              </a:rPr>
              <a:t>m,t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</a:rPr>
              <a:t>(product of two decision variables </a:t>
            </a:r>
            <a:r>
              <a:rPr lang="en-US" sz="1200" dirty="0">
                <a:latin typeface="+mn-lt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quadratic class)</a:t>
            </a:r>
            <a:endParaRPr lang="en-US" sz="1200" dirty="0">
              <a:latin typeface="+mn-lt"/>
            </a:endParaRPr>
          </a:p>
        </p:txBody>
      </p:sp>
      <p:sp>
        <p:nvSpPr>
          <p:cNvPr id="139" name="Shape 67">
            <a:extLst>
              <a:ext uri="{FF2B5EF4-FFF2-40B4-BE49-F238E27FC236}">
                <a16:creationId xmlns:a16="http://schemas.microsoft.com/office/drawing/2014/main" id="{35B59490-5152-5009-253F-FB085CB4DFBA}"/>
              </a:ext>
            </a:extLst>
          </p:cNvPr>
          <p:cNvSpPr/>
          <p:nvPr/>
        </p:nvSpPr>
        <p:spPr>
          <a:xfrm>
            <a:off x="7083124" y="4097240"/>
            <a:ext cx="25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43" name="Shape 69">
            <a:extLst>
              <a:ext uri="{FF2B5EF4-FFF2-40B4-BE49-F238E27FC236}">
                <a16:creationId xmlns:a16="http://schemas.microsoft.com/office/drawing/2014/main" id="{7BF3CD9F-296C-064E-65D8-3D37A0EEA164}"/>
              </a:ext>
            </a:extLst>
          </p:cNvPr>
          <p:cNvSpPr/>
          <p:nvPr/>
        </p:nvSpPr>
        <p:spPr>
          <a:xfrm>
            <a:off x="2931749" y="5493004"/>
            <a:ext cx="3840480" cy="61316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+mn-lt"/>
                <a:ea typeface="Calibri" pitchFamily="34" charset="-122"/>
                <a:cs typeface="Calibri" pitchFamily="34" charset="-120"/>
              </a:rPr>
              <a:t>Branch-and-cut</a:t>
            </a:r>
            <a:endParaRPr lang="en-US" sz="13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MIP-gap target, multi-processing, </a:t>
            </a:r>
            <a:r>
              <a:rPr lang="en-US" sz="1300" dirty="0" err="1">
                <a:latin typeface="+mn-lt"/>
                <a:ea typeface="Calibri" pitchFamily="34" charset="-122"/>
                <a:cs typeface="Calibri" pitchFamily="34" charset="-120"/>
              </a:rPr>
              <a:t>presolve</a:t>
            </a: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 and cuts, time limits</a:t>
            </a:r>
            <a:endParaRPr lang="en-US" sz="1300" dirty="0">
              <a:latin typeface="+mn-lt"/>
            </a:endParaRPr>
          </a:p>
          <a:p>
            <a:endParaRPr lang="en-US" sz="1300" dirty="0">
              <a:latin typeface="+mn-lt"/>
            </a:endParaRPr>
          </a:p>
        </p:txBody>
      </p:sp>
      <p:sp>
        <p:nvSpPr>
          <p:cNvPr id="147" name="Shape 71">
            <a:extLst>
              <a:ext uri="{FF2B5EF4-FFF2-40B4-BE49-F238E27FC236}">
                <a16:creationId xmlns:a16="http://schemas.microsoft.com/office/drawing/2014/main" id="{47289C8C-57C8-0095-801F-3D4CCEDAB1D9}"/>
              </a:ext>
            </a:extLst>
          </p:cNvPr>
          <p:cNvSpPr/>
          <p:nvPr/>
        </p:nvSpPr>
        <p:spPr>
          <a:xfrm>
            <a:off x="6955109" y="5493004"/>
            <a:ext cx="4517136" cy="61316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+mn-lt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latin typeface="+mn-lt"/>
                <a:ea typeface="Calibri" pitchFamily="34" charset="-122"/>
                <a:cs typeface="Calibri" pitchFamily="34" charset="-120"/>
              </a:rPr>
              <a:t>vehicle and driver route assignments, power and SoC timeline, cost composition, used vehicles and chargers</a:t>
            </a:r>
            <a:endParaRPr lang="en-US" sz="1300" dirty="0">
              <a:latin typeface="+mn-lt"/>
            </a:endParaRPr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9B026FE7-281A-43CA-EA5A-D77C3576D0F8}"/>
              </a:ext>
            </a:extLst>
          </p:cNvPr>
          <p:cNvSpPr/>
          <p:nvPr/>
        </p:nvSpPr>
        <p:spPr>
          <a:xfrm>
            <a:off x="938357" y="4641398"/>
            <a:ext cx="10661904" cy="713746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" name="Shape 16">
            <a:extLst>
              <a:ext uri="{FF2B5EF4-FFF2-40B4-BE49-F238E27FC236}">
                <a16:creationId xmlns:a16="http://schemas.microsoft.com/office/drawing/2014/main" id="{31AF3D09-3D84-BDFA-574F-4DD3A154643C}"/>
              </a:ext>
            </a:extLst>
          </p:cNvPr>
          <p:cNvSpPr>
            <a:spLocks noChangeAspect="1"/>
          </p:cNvSpPr>
          <p:nvPr/>
        </p:nvSpPr>
        <p:spPr>
          <a:xfrm>
            <a:off x="351236" y="4806694"/>
            <a:ext cx="396000" cy="396000"/>
          </a:xfrm>
          <a:prstGeom prst="ellipse">
            <a:avLst/>
          </a:prstGeom>
          <a:solidFill>
            <a:srgbClr val="2E5266"/>
          </a:solidFill>
          <a:ln w="158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</a:t>
            </a:r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727D19EC-1F41-6C15-58B1-116F2296DF1D}"/>
              </a:ext>
            </a:extLst>
          </p:cNvPr>
          <p:cNvSpPr txBox="1"/>
          <p:nvPr/>
        </p:nvSpPr>
        <p:spPr>
          <a:xfrm>
            <a:off x="1066373" y="4636212"/>
            <a:ext cx="1737360" cy="718932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E5266"/>
                </a:solidFill>
                <a:latin typeface="+mn-lt"/>
                <a:ea typeface="Calibri" pitchFamily="34" charset="-122"/>
                <a:cs typeface="Calibri" pitchFamily="34" charset="-120"/>
              </a:rPr>
              <a:t>Objective</a:t>
            </a:r>
            <a:endParaRPr lang="en-US" dirty="0">
              <a:latin typeface="+mn-lt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C7688"/>
                </a:solidFill>
                <a:latin typeface="+mn-lt"/>
                <a:ea typeface="Calibri" pitchFamily="34" charset="-122"/>
                <a:cs typeface="Calibri" pitchFamily="34" charset="-120"/>
              </a:rPr>
              <a:t>minimise daily cost</a:t>
            </a:r>
            <a:endParaRPr lang="en-US" sz="2400" dirty="0">
              <a:latin typeface="+mn-lt"/>
            </a:endParaRPr>
          </a:p>
        </p:txBody>
      </p:sp>
      <p:sp>
        <p:nvSpPr>
          <p:cNvPr id="10" name="Shape 57">
            <a:extLst>
              <a:ext uri="{FF2B5EF4-FFF2-40B4-BE49-F238E27FC236}">
                <a16:creationId xmlns:a16="http://schemas.microsoft.com/office/drawing/2014/main" id="{43AD298B-34F1-CEAD-F739-5C3C27AE5CD5}"/>
              </a:ext>
            </a:extLst>
          </p:cNvPr>
          <p:cNvSpPr/>
          <p:nvPr/>
        </p:nvSpPr>
        <p:spPr>
          <a:xfrm>
            <a:off x="2931749" y="4709109"/>
            <a:ext cx="8540496" cy="59117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5D2DB"/>
            </a:solidFill>
            <a:prstDash val="solid"/>
          </a:ln>
        </p:spPr>
        <p:txBody>
          <a:bodyPr/>
          <a:lstStyle/>
          <a:p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min C =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C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energy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+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C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toll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+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C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fuel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+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C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deg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+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C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crew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+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ΔC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peak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– R</a:t>
            </a:r>
            <a:r>
              <a:rPr lang="en-US" i="1" baseline="30000" dirty="0">
                <a:latin typeface="+mn-lt"/>
                <a:ea typeface="Calibri" pitchFamily="34" charset="-122"/>
                <a:cs typeface="Calibri" pitchFamily="34" charset="-120"/>
              </a:rPr>
              <a:t>V2G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– S</a:t>
            </a:r>
            <a:r>
              <a:rPr lang="en-US" i="1" baseline="30000" dirty="0">
                <a:latin typeface="+mn-lt"/>
                <a:ea typeface="Calibri" pitchFamily="34" charset="-122"/>
                <a:cs typeface="Calibri" pitchFamily="34" charset="-120"/>
              </a:rPr>
              <a:t>V2V</a:t>
            </a:r>
            <a:r>
              <a:rPr lang="en-US" i="1" dirty="0">
                <a:latin typeface="+mn-lt"/>
                <a:ea typeface="Calibri" pitchFamily="34" charset="-122"/>
                <a:cs typeface="Calibri" pitchFamily="34" charset="-120"/>
              </a:rPr>
              <a:t> + </a:t>
            </a:r>
            <a:r>
              <a:rPr lang="en-US" i="1" dirty="0" err="1">
                <a:latin typeface="+mn-lt"/>
                <a:ea typeface="Calibri" pitchFamily="34" charset="-122"/>
                <a:cs typeface="Calibri" pitchFamily="34" charset="-120"/>
              </a:rPr>
              <a:t>Ψ</a:t>
            </a:r>
            <a:r>
              <a:rPr lang="en-US" i="1" baseline="30000" dirty="0" err="1">
                <a:latin typeface="+mn-lt"/>
                <a:ea typeface="Calibri" pitchFamily="34" charset="-122"/>
                <a:cs typeface="Calibri" pitchFamily="34" charset="-120"/>
              </a:rPr>
              <a:t>pen</a:t>
            </a:r>
            <a:br>
              <a:rPr lang="en-US" baseline="30000" dirty="0">
                <a:latin typeface="+mn-lt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latin typeface="+mn-lt"/>
                <a:ea typeface="Calibri" pitchFamily="34" charset="-122"/>
                <a:cs typeface="Calibri" pitchFamily="34" charset="-120"/>
              </a:rPr>
              <a:t>energy purchase + road toll + diesel + battery ageing + drivers + demand-charge - V2G revenue - vehicle-to-vehicle saving + modelling penalties</a:t>
            </a:r>
            <a:endParaRPr lang="en-US" dirty="0">
              <a:latin typeface="+mn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5C419A-B14D-DDE6-4AAD-966158FF15BB}"/>
              </a:ext>
            </a:extLst>
          </p:cNvPr>
          <p:cNvSpPr txBox="1"/>
          <p:nvPr/>
        </p:nvSpPr>
        <p:spPr>
          <a:xfrm>
            <a:off x="2966253" y="1844547"/>
            <a:ext cx="1679947" cy="1769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b="1" dirty="0">
                <a:solidFill>
                  <a:srgbClr val="2E5266"/>
                </a:solidFill>
                <a:latin typeface="+mn-lt"/>
              </a:rPr>
              <a:t>former MILP formulation: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821A04-96FD-AAA0-7494-13C86B5F37A8}"/>
              </a:ext>
            </a:extLst>
          </p:cNvPr>
          <p:cNvSpPr txBox="1"/>
          <p:nvPr/>
        </p:nvSpPr>
        <p:spPr>
          <a:xfrm>
            <a:off x="2966252" y="3528078"/>
            <a:ext cx="1633460" cy="1769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100" b="1" dirty="0">
                <a:solidFill>
                  <a:srgbClr val="2E5266"/>
                </a:solidFill>
                <a:latin typeface="+mn-lt"/>
              </a:rPr>
              <a:t>new MIQCP formulation:</a:t>
            </a:r>
          </a:p>
        </p:txBody>
      </p:sp>
    </p:spTree>
    <p:extLst>
      <p:ext uri="{BB962C8B-B14F-4D97-AF65-F5344CB8AC3E}">
        <p14:creationId xmlns:p14="http://schemas.microsoft.com/office/powerpoint/2010/main" val="14163491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TM Doktorandenkolloquium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0" id="{6AD0A4C4-4DA4-4270-909B-22FEC0F7F7D4}" vid="{56187335-21FC-4A14-90CD-5E6687FC0630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Doktoranden Kolloquium DE v4.9</Template>
  <TotalTime>0</TotalTime>
  <Words>312</Words>
  <Application>Microsoft Office PowerPoint</Application>
  <PresentationFormat>Breitbild</PresentationFormat>
  <Paragraphs>48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Symbol</vt:lpstr>
      <vt:lpstr>Wingdings</vt:lpstr>
      <vt:lpstr>FTM Doktorandenkolloquium</vt:lpstr>
      <vt:lpstr>think-cell Folie</vt:lpstr>
      <vt:lpstr>PowerPoint-Präsentation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 Winkler</dc:creator>
  <cp:lastModifiedBy>Tom Winkler</cp:lastModifiedBy>
  <cp:revision>208</cp:revision>
  <cp:lastPrinted>2015-07-30T14:04:45Z</cp:lastPrinted>
  <dcterms:created xsi:type="dcterms:W3CDTF">2025-03-13T09:19:25Z</dcterms:created>
  <dcterms:modified xsi:type="dcterms:W3CDTF">2026-10-08T06:56:24Z</dcterms:modified>
</cp:coreProperties>
</file>